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92" r:id="rId2"/>
    <p:sldId id="295" r:id="rId3"/>
    <p:sldId id="296" r:id="rId4"/>
    <p:sldId id="297" r:id="rId5"/>
    <p:sldId id="258" r:id="rId6"/>
    <p:sldId id="256" r:id="rId7"/>
    <p:sldId id="298" r:id="rId8"/>
    <p:sldId id="299" r:id="rId9"/>
    <p:sldId id="259" r:id="rId10"/>
    <p:sldId id="294" r:id="rId11"/>
    <p:sldId id="260" r:id="rId12"/>
    <p:sldId id="261" r:id="rId13"/>
    <p:sldId id="303" r:id="rId14"/>
    <p:sldId id="304" r:id="rId15"/>
    <p:sldId id="301" r:id="rId16"/>
    <p:sldId id="302" r:id="rId17"/>
    <p:sldId id="265" r:id="rId18"/>
    <p:sldId id="266" r:id="rId19"/>
  </p:sldIdLst>
  <p:sldSz cx="12192000" cy="6858000"/>
  <p:notesSz cx="6858000" cy="9144000"/>
  <p:embeddedFontLst>
    <p:embeddedFont>
      <p:font typeface="Inter" panose="020B0604020202020204" charset="0"/>
      <p:regular r:id="rId21"/>
      <p:bold r:id="rId22"/>
      <p:italic r:id="rId23"/>
      <p:boldItalic r:id="rId24"/>
    </p:embeddedFont>
    <p:embeddedFont>
      <p:font typeface="Lato" panose="020F0502020204030203" pitchFamily="34" charset="0"/>
      <p:regular r:id="rId25"/>
      <p:bold r:id="rId26"/>
      <p:italic r:id="rId27"/>
      <p:boldItalic r:id="rId28"/>
    </p:embeddedFont>
    <p:embeddedFont>
      <p:font typeface="Montserrat" panose="00000500000000000000" pitchFamily="2" charset="-52"/>
      <p:regular r:id="rId29"/>
      <p:bold r:id="rId30"/>
      <p:italic r:id="rId31"/>
      <p:boldItalic r:id="rId32"/>
    </p:embeddedFont>
    <p:embeddedFont>
      <p:font typeface="Poppins" panose="00000500000000000000" pitchFamily="2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DD6D70-E802-479E-8A27-FF84FBB00568}">
  <a:tblStyle styleId="{54DD6D70-E802-479E-8A27-FF84FBB0056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/>
          </a:p>
        </p:txBody>
      </p:sp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0614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" name="Google Shape;18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0058400" y="638091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10058400" y="641673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00584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10058400" y="638091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0058400" y="63722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10058400" y="63722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10058400" y="63895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100584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10058400" y="638091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10058400" y="63722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10058400" y="63895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058400" y="638091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4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4.png"/><Relationship Id="rId9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1484313"/>
            <a:ext cx="9144000" cy="4078287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1992312" y="2605088"/>
            <a:ext cx="8223250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rgbClr val="000000"/>
              </a:buClr>
              <a:buSzPts val="5400"/>
            </a:pPr>
            <a:r>
              <a:rPr lang="en-US" sz="5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Заголовок</a:t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1992312" y="3648075"/>
            <a:ext cx="8223250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rgbClr val="000000"/>
              </a:buClr>
              <a:buSzPts val="3600"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Подзаголовок презентации</a:t>
            </a:r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4">
            <a:alphaModFix/>
          </a:blip>
          <a:srcRect t="3570" b="3570"/>
          <a:stretch/>
        </p:blipFill>
        <p:spPr>
          <a:xfrm>
            <a:off x="1524000" y="1484313"/>
            <a:ext cx="9144000" cy="4078287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1992312" y="2605088"/>
            <a:ext cx="8223250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3200"/>
            </a:pPr>
            <a:r>
              <a:rPr lang="en-US" sz="3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Цифровая 3D-медицина</a:t>
            </a:r>
            <a:endParaRPr/>
          </a:p>
          <a:p>
            <a:endParaRPr sz="3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1992312" y="3648075"/>
            <a:ext cx="8223250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Результаты в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области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компьютерной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графики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геометрического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моделирования</a:t>
            </a:r>
            <a:endParaRPr dirty="0"/>
          </a:p>
        </p:txBody>
      </p:sp>
      <p:sp>
        <p:nvSpPr>
          <p:cNvPr id="63" name="Google Shape;63;p13"/>
          <p:cNvSpPr txBox="1"/>
          <p:nvPr/>
        </p:nvSpPr>
        <p:spPr>
          <a:xfrm>
            <a:off x="-1" y="5037992"/>
            <a:ext cx="12191999" cy="1828800"/>
          </a:xfrm>
          <a:prstGeom prst="rect">
            <a:avLst/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0" y="-17585"/>
            <a:ext cx="12192000" cy="1185862"/>
          </a:xfrm>
          <a:prstGeom prst="rect">
            <a:avLst/>
          </a:prstGeom>
          <a:solidFill>
            <a:srgbClr val="0064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0" y="1135987"/>
            <a:ext cx="12192000" cy="4389437"/>
          </a:xfrm>
          <a:prstGeom prst="rect">
            <a:avLst/>
          </a:prstGeom>
          <a:solidFill>
            <a:srgbClr val="1381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22230" y="2355266"/>
            <a:ext cx="11747533" cy="2147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chemeClr val="lt1"/>
              </a:buClr>
              <a:buSzPts val="3200"/>
            </a:pPr>
            <a:r>
              <a:rPr lang="ru-RU" sz="2400" b="1" dirty="0">
                <a:solidFill>
                  <a:schemeClr val="lt1"/>
                </a:solidFill>
              </a:rPr>
              <a:t>Тема доклада:</a:t>
            </a:r>
          </a:p>
          <a:p>
            <a:pPr algn="ctr">
              <a:lnSpc>
                <a:spcPct val="115000"/>
              </a:lnSpc>
              <a:buClr>
                <a:schemeClr val="lt1"/>
              </a:buClr>
              <a:buSzPts val="3200"/>
            </a:pPr>
            <a:r>
              <a:rPr lang="en-US" sz="2800" b="1" dirty="0">
                <a:solidFill>
                  <a:schemeClr val="lt1"/>
                </a:solidFill>
              </a:rPr>
              <a:t>«</a:t>
            </a:r>
            <a:r>
              <a:rPr lang="ru-RU" sz="2800" b="1" dirty="0">
                <a:solidFill>
                  <a:schemeClr val="lt1"/>
                </a:solidFill>
              </a:rPr>
              <a:t>Прототип фреймворка для параллельного выполнения графа задач»</a:t>
            </a:r>
            <a:endParaRPr lang="en-US" sz="2800" b="1" dirty="0">
              <a:solidFill>
                <a:schemeClr val="lt1"/>
              </a:solidFill>
            </a:endParaRPr>
          </a:p>
        </p:txBody>
      </p:sp>
      <p:pic>
        <p:nvPicPr>
          <p:cNvPr id="68" name="Google Shape;68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0622" y="242713"/>
            <a:ext cx="2174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9;p25">
            <a:extLst>
              <a:ext uri="{FF2B5EF4-FFF2-40B4-BE49-F238E27FC236}">
                <a16:creationId xmlns:a16="http://schemas.microsoft.com/office/drawing/2014/main" id="{5506F867-5892-4BF4-BE00-FC1217B645A8}"/>
              </a:ext>
            </a:extLst>
          </p:cNvPr>
          <p:cNvSpPr txBox="1"/>
          <p:nvPr/>
        </p:nvSpPr>
        <p:spPr>
          <a:xfrm>
            <a:off x="7526640" y="4554211"/>
            <a:ext cx="4529400" cy="930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rgbClr val="000000"/>
              </a:buClr>
              <a:buSzPts val="1100"/>
              <a:defRPr/>
            </a:pPr>
            <a:r>
              <a:rPr lang="en-US" kern="0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Выполнил</a:t>
            </a:r>
            <a:r>
              <a:rPr lang="en-US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:</a:t>
            </a:r>
            <a:endParaRPr lang="ru-RU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  <a:p>
            <a:pPr algn="r">
              <a:buClr>
                <a:srgbClr val="000000"/>
              </a:buClr>
              <a:buSzPts val="1100"/>
              <a:defRPr/>
            </a:pPr>
            <a:r>
              <a:rPr lang="ru-RU" sz="16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Студент ИИТММ гр. 382</a:t>
            </a:r>
            <a:r>
              <a:rPr lang="en-US" sz="16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5</a:t>
            </a:r>
            <a:r>
              <a:rPr lang="ru-RU" sz="16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М1ФИ</a:t>
            </a:r>
            <a:r>
              <a:rPr lang="en-US" sz="16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1</a:t>
            </a:r>
            <a:endParaRPr sz="1600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  <a:p>
            <a:pPr algn="r">
              <a:buClr>
                <a:srgbClr val="000000"/>
              </a:buClr>
              <a:buSzPts val="1100"/>
              <a:defRPr/>
            </a:pPr>
            <a:r>
              <a:rPr lang="ru-RU" sz="16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Боровков Сергей Александрович</a:t>
            </a:r>
            <a:endParaRPr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112;p25">
            <a:extLst>
              <a:ext uri="{FF2B5EF4-FFF2-40B4-BE49-F238E27FC236}">
                <a16:creationId xmlns:a16="http://schemas.microsoft.com/office/drawing/2014/main" id="{B5E7B93C-B451-4988-92E4-D182A8F0E0BC}"/>
              </a:ext>
            </a:extLst>
          </p:cNvPr>
          <p:cNvSpPr txBox="1"/>
          <p:nvPr/>
        </p:nvSpPr>
        <p:spPr>
          <a:xfrm>
            <a:off x="7227277" y="5511927"/>
            <a:ext cx="4828763" cy="10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rgbClr val="000000"/>
              </a:buClr>
              <a:buSzPts val="1100"/>
              <a:defRPr/>
            </a:pPr>
            <a:r>
              <a:rPr lang="ru-RU" sz="19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Научный р</a:t>
            </a:r>
            <a:r>
              <a:rPr lang="en-US" sz="19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уководитель:</a:t>
            </a:r>
            <a:endParaRPr sz="1900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  <a:p>
            <a:pPr algn="r">
              <a:buClr>
                <a:srgbClr val="000000"/>
              </a:buClr>
              <a:buSzPts val="1100"/>
              <a:defRPr/>
            </a:pPr>
            <a:r>
              <a:rPr lang="ru-RU" sz="16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к.т.н.,</a:t>
            </a:r>
            <a:r>
              <a:rPr lang="ru-RU" sz="1600" kern="0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доц.ВВСП</a:t>
            </a:r>
            <a:br>
              <a:rPr lang="ru-RU" sz="16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</a:br>
            <a:r>
              <a:rPr lang="ru-RU" sz="1600" kern="0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Козинов</a:t>
            </a:r>
            <a:r>
              <a:rPr lang="en-US" sz="16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 </a:t>
            </a:r>
            <a:r>
              <a:rPr lang="ru-RU" sz="16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Евгений</a:t>
            </a:r>
            <a:r>
              <a:rPr lang="en-US" sz="16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 </a:t>
            </a:r>
            <a:r>
              <a:rPr lang="ru-RU" sz="16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Александрович</a:t>
            </a:r>
            <a:endParaRPr sz="1600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68706C-1BDD-4F2C-B1B0-674CA6B17C68}"/>
              </a:ext>
            </a:extLst>
          </p:cNvPr>
          <p:cNvSpPr txBox="1"/>
          <p:nvPr/>
        </p:nvSpPr>
        <p:spPr>
          <a:xfrm flipH="1">
            <a:off x="1984372" y="1125109"/>
            <a:ext cx="82232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1"/>
                </a:solidFill>
              </a:rPr>
              <a:t>Тема научно-исследовательской работы:</a:t>
            </a:r>
          </a:p>
          <a:p>
            <a:pPr algn="ctr"/>
            <a:r>
              <a:rPr lang="ru-RU" sz="2000" b="1" dirty="0">
                <a:solidFill>
                  <a:schemeClr val="bg1"/>
                </a:solidFill>
              </a:rPr>
              <a:t>«Разработка инструментов для распараллеливания алгоритмов»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1708F3F-F4EB-1653-4E0D-0799CB3541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386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227ED11-02D4-2D7E-0F02-F1C0262F2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" y="0"/>
            <a:ext cx="12176637" cy="6858000"/>
          </a:xfrm>
          <a:prstGeom prst="rect">
            <a:avLst/>
          </a:prstGeom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0562" y="5342184"/>
            <a:ext cx="10858500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2756148"/>
            <a:ext cx="3492549" cy="2205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49799" y="2756148"/>
            <a:ext cx="3492549" cy="2205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32849" y="2756148"/>
            <a:ext cx="3492549" cy="220503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666750" y="1927473"/>
            <a:ext cx="108585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В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рамках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предыдущего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семестра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было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проведено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углубленное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изучение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технологий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параллельного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программирования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Рассматривались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три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ключевых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подхода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952500" y="5580310"/>
            <a:ext cx="103346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055A4"/>
                </a:solidFill>
                <a:latin typeface="Inter"/>
                <a:ea typeface="Inter"/>
                <a:cs typeface="Inter"/>
                <a:sym typeface="Inter"/>
              </a:rPr>
              <a:t>Полученный опыт позволил выделить основные требования к инструментам автоматизации параллельных вычислений.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14400" y="3260973"/>
            <a:ext cx="314711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MPI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3718173"/>
            <a:ext cx="2997249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Модель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распределенной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памяти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явного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обмена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сообщениями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597449" y="3260973"/>
            <a:ext cx="314711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OpenMP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597449" y="3718173"/>
            <a:ext cx="2997249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Директивная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модель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для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систем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с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общей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памятью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8280499" y="3260973"/>
            <a:ext cx="314711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Intel TBB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280499" y="3718173"/>
            <a:ext cx="2997249" cy="98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Задачный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параллелизм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динамическая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балансировка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нагрузки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914400" y="514741"/>
            <a:ext cx="1140142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Предыдущий </a:t>
            </a:r>
            <a:r>
              <a:rPr lang="en-US" sz="2850" b="1" i="0" u="none" strike="noStrike" cap="none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этап</a:t>
            </a:r>
            <a:r>
              <a:rPr lang="en-US" sz="285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850" b="1" i="0" u="none" strike="noStrike" cap="none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исследования</a:t>
            </a:r>
            <a:endParaRPr sz="2850" dirty="0">
              <a:solidFill>
                <a:schemeClr val="bg1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7F1B2E8-0486-6078-8F7D-EC4BD653CE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136E3A0-BA6A-A253-2A2E-7EDEC9CB6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" y="0"/>
            <a:ext cx="12176637" cy="6858000"/>
          </a:xfrm>
          <a:prstGeom prst="rect">
            <a:avLst/>
          </a:prstGeom>
        </p:spPr>
      </p:pic>
      <p:sp>
        <p:nvSpPr>
          <p:cNvPr id="120" name="Google Shape;120;p15"/>
          <p:cNvSpPr txBox="1"/>
          <p:nvPr/>
        </p:nvSpPr>
        <p:spPr>
          <a:xfrm>
            <a:off x="666750" y="2010816"/>
            <a:ext cx="108585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Анализ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существующих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технологий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показал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что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при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разработке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параллельных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алгоритмов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сохраняются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повторяющиеся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сложности</a:t>
            </a:r>
            <a:r>
              <a:rPr lang="en-US" sz="1425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990600" y="2944266"/>
            <a:ext cx="105346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Необходимость ручного описания зависимостей;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90600" y="3406229"/>
            <a:ext cx="105346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Управление потоками, синхронизацией и обменом данными;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90600" y="3868191"/>
            <a:ext cx="105346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Зависимость реализации от конкретной вычислительной среды;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90600" y="4330154"/>
            <a:ext cx="10534650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Риск ошибок при работе с общей и распределенной памятью и коммуникациями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lang="ru-RU"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666750" y="5439816"/>
            <a:ext cx="10858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55A4"/>
                </a:solidFill>
                <a:latin typeface="Inter"/>
                <a:ea typeface="Inter"/>
                <a:cs typeface="Inter"/>
                <a:sym typeface="Inter"/>
              </a:rPr>
              <a:t>Поэтому в текущем семестре работа была продолжена в направлении разработки собственного </a:t>
            </a: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task-based фреймворка</a:t>
            </a:r>
            <a:r>
              <a:rPr lang="en-US" sz="1650" b="0" i="0" u="none" strike="noStrike" cap="none">
                <a:solidFill>
                  <a:srgbClr val="0055A4"/>
                </a:solidFill>
                <a:latin typeface="Inter"/>
                <a:ea typeface="Inter"/>
                <a:cs typeface="Inter"/>
                <a:sym typeface="Inter"/>
              </a:rPr>
              <a:t> для выполнения графа задач.</a:t>
            </a:r>
            <a:endParaRPr/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987129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449091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911054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373016"/>
            <a:ext cx="1809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847725" y="540245"/>
            <a:ext cx="114014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Переход к </a:t>
            </a:r>
            <a:r>
              <a:rPr lang="en-US" sz="2550" b="1" i="0" u="none" strike="noStrike" cap="none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разработке</a:t>
            </a:r>
            <a:r>
              <a:rPr lang="en-US" sz="255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550" b="1" i="0" u="none" strike="noStrike" cap="none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собственного</a:t>
            </a:r>
            <a:r>
              <a:rPr lang="en-US" sz="255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550" b="1" i="0" u="none" strike="noStrike" cap="none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инструмента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B9DDF12-5808-D9D7-9251-79809B05C0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E3329B3-462E-5994-BA9A-0BCCD3F40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" y="0"/>
            <a:ext cx="12176637" cy="6858000"/>
          </a:xfrm>
          <a:prstGeom prst="rect">
            <a:avLst/>
          </a:prstGeom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096666"/>
            <a:ext cx="346070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5575" y="3096666"/>
            <a:ext cx="346070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3096666"/>
            <a:ext cx="3460700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666750" y="1853653"/>
            <a:ext cx="108585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основе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анализа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существующих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подходов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были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выделены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ключевые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проблемы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которые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должен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решать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разрабатываемый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инструмент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dirty="0"/>
          </a:p>
        </p:txBody>
      </p:sp>
      <p:pic>
        <p:nvPicPr>
          <p:cNvPr id="142" name="Google Shape;14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3372891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914400" y="4049166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Сложность управления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914400" y="4506366"/>
            <a:ext cx="29654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Избавление разработчика от ручного управления потоками и примитивами синхронизации.</a:t>
            </a:r>
            <a:endParaRPr/>
          </a:p>
        </p:txBody>
      </p:sp>
      <p:pic>
        <p:nvPicPr>
          <p:cNvPr id="145" name="Google Shape;14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3372891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4613225" y="4049166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Риски ошибок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4613175" y="4325391"/>
            <a:ext cx="2965500" cy="1644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Снижение риска Race </a:t>
            </a:r>
            <a:r>
              <a:rPr lang="ru-RU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Condition</a:t>
            </a:r>
            <a:r>
              <a:rPr lang="ru-RU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ru-RU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Deadlock</a:t>
            </a:r>
            <a:r>
              <a:rPr lang="ru-RU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за счёт явного описания зависимостей</a:t>
            </a:r>
          </a:p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и централизованного управления выполнением.</a:t>
            </a:r>
            <a:endParaRPr dirty="0"/>
          </a:p>
        </p:txBody>
      </p:sp>
      <p:pic>
        <p:nvPicPr>
          <p:cNvPr id="148" name="Google Shape;148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12050" y="3372891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8312050" y="4049166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Масштабируемость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8312050" y="4506366"/>
            <a:ext cx="2965400" cy="98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Адаптация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одного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алгоритма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под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разные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среды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(Threads/MPI)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без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изменения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логики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51" name="Google Shape;151;p16"/>
          <p:cNvSpPr txBox="1"/>
          <p:nvPr/>
        </p:nvSpPr>
        <p:spPr>
          <a:xfrm>
            <a:off x="914400" y="532816"/>
            <a:ext cx="1140142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Актуальность </a:t>
            </a:r>
            <a:r>
              <a:rPr lang="en-US" sz="2850" b="1" i="0" u="none" strike="noStrike" cap="none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работы</a:t>
            </a:r>
            <a:endParaRPr sz="2850" dirty="0">
              <a:solidFill>
                <a:schemeClr val="bg1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E3F584B-43ED-BC1B-2AF1-23FADB5468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58119B5-7233-1F0A-1EA0-FFC90D7AE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" y="0"/>
            <a:ext cx="12176637" cy="6858000"/>
          </a:xfrm>
          <a:prstGeom prst="rect">
            <a:avLst/>
          </a:prstGeom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27001"/>
            <a:ext cx="5286375" cy="423252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904875" y="544413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Концепция: </a:t>
            </a:r>
            <a:r>
              <a:rPr lang="en-US" sz="2850" b="1" i="0" u="none" strike="noStrike" cap="none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Граф</a:t>
            </a:r>
            <a:r>
              <a:rPr lang="en-US" sz="285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850" b="1" i="0" u="none" strike="noStrike" cap="none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задач</a:t>
            </a:r>
            <a:r>
              <a:rPr lang="en-US" sz="285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(DAG)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1917501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 основе фреймворка лежит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Направленный Ациклический Граф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(Directed Acyclic Graph):</a:t>
            </a:r>
            <a:endParaRPr/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24625" y="1917501"/>
            <a:ext cx="4905375" cy="385152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904875" y="2717601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Узлы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(Nodes):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Вычислительные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задачи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—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атомарные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единицы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работы (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функторы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или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лямбда-выражения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885825" y="3676197"/>
            <a:ext cx="49720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Ребра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(Edges):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Направленные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связи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определяющие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зависимости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по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данным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или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строгому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порядку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выполнения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885825" y="4927401"/>
            <a:ext cx="49720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TaskContext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Изолированное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потокобезопасное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хранилище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для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обмена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данными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между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узлами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81532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7922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052560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C1B9995-E994-63BC-5B7A-43416264A3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ECC2187-08AB-0E1B-4678-68B707CD0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" y="0"/>
            <a:ext cx="12176637" cy="6858000"/>
          </a:xfrm>
          <a:prstGeom prst="rect">
            <a:avLst/>
          </a:prstGeom>
        </p:spPr>
      </p:pic>
      <p:pic>
        <p:nvPicPr>
          <p:cNvPr id="84" name="Google Shape;84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238672"/>
            <a:ext cx="2857500" cy="145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7250" y="2238672"/>
            <a:ext cx="2857500" cy="145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0" y="2138660"/>
            <a:ext cx="2857500" cy="1651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00250" y="2486322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009650" y="2933997"/>
            <a:ext cx="2362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Задачи</a:t>
            </a:r>
            <a:r>
              <a:rPr lang="en-US" sz="13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+ </a:t>
            </a:r>
            <a:r>
              <a:rPr lang="en-US" sz="135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Зависимости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1009650" y="3229272"/>
            <a:ext cx="23622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Ввод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пользователя</a:t>
            </a:r>
            <a:endParaRPr dirty="0"/>
          </a:p>
        </p:txBody>
      </p:sp>
      <p:pic>
        <p:nvPicPr>
          <p:cNvPr id="91" name="Google Shape;91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071937" y="2845296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24550" y="2486322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4914900" y="2933997"/>
            <a:ext cx="2362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Построение DAG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4914900" y="3229272"/>
            <a:ext cx="23622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Внутренняя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логика</a:t>
            </a:r>
            <a:endParaRPr dirty="0"/>
          </a:p>
        </p:txBody>
      </p:sp>
      <p:pic>
        <p:nvPicPr>
          <p:cNvPr id="95" name="Google Shape;95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977187" y="2845296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848850" y="238631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8820150" y="2833985"/>
            <a:ext cx="2362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Автоматическое исполнение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8820150" y="3329285"/>
            <a:ext cx="23622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Результат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работы</a:t>
            </a:r>
            <a:endParaRPr dirty="0"/>
          </a:p>
        </p:txBody>
      </p:sp>
      <p:sp>
        <p:nvSpPr>
          <p:cNvPr id="99" name="Google Shape;99;p13"/>
          <p:cNvSpPr txBox="1"/>
          <p:nvPr/>
        </p:nvSpPr>
        <p:spPr>
          <a:xfrm>
            <a:off x="7353300" y="7790705"/>
            <a:ext cx="40767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Механизм исполнения полностью скрыт за единым интерфейсом драйверов.</a:t>
            </a:r>
            <a:endParaRPr/>
          </a:p>
        </p:txBody>
      </p:sp>
      <p:pic>
        <p:nvPicPr>
          <p:cNvPr id="100" name="Google Shape;100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62000" y="4504580"/>
            <a:ext cx="228600" cy="95041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 txBox="1"/>
          <p:nvPr/>
        </p:nvSpPr>
        <p:spPr>
          <a:xfrm>
            <a:off x="1181100" y="4456955"/>
            <a:ext cx="598074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Параллелизм «из коробки»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1181100" y="4876055"/>
            <a:ext cx="5695950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Фреймворк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автоматически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выявляет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независимые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задачи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запускает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их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параллельно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доступных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ядрах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процессора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876300" y="550218"/>
            <a:ext cx="112014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Основная </a:t>
            </a:r>
            <a:r>
              <a:rPr lang="en-US" sz="2850" b="1" i="0" u="none" strike="noStrike" cap="none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идея</a:t>
            </a:r>
            <a:r>
              <a:rPr lang="en-US" sz="285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2850" b="1" i="0" u="none" strike="noStrike" cap="none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принцип</a:t>
            </a:r>
            <a:r>
              <a:rPr lang="en-US" sz="285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работы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F31B670-B687-E827-6312-1C0F2F98D9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23C118E-FCA2-AEB7-FEBB-2171F6AFD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" y="0"/>
            <a:ext cx="12176637" cy="6858000"/>
          </a:xfrm>
          <a:prstGeom prst="rect">
            <a:avLst/>
          </a:prstGeom>
        </p:spPr>
      </p:pic>
      <p:pic>
        <p:nvPicPr>
          <p:cNvPr id="2" name="Google Shape;174;p18" descr="image.png">
            <a:extLst>
              <a:ext uri="{FF2B5EF4-FFF2-40B4-BE49-F238E27FC236}">
                <a16:creationId xmlns:a16="http://schemas.microsoft.com/office/drawing/2014/main" id="{B7375719-ED3F-68C2-0745-AF9A4B74E1A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71975" y="1571624"/>
            <a:ext cx="3429000" cy="481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71625"/>
            <a:ext cx="3429000" cy="481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1571625"/>
            <a:ext cx="3429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886206" y="526541"/>
            <a:ext cx="1140142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chemeClr val="bg1"/>
                </a:solidFill>
                <a:latin typeface="Montserrat" panose="00000500000000000000" pitchFamily="2" charset="-52"/>
                <a:ea typeface="Poppins"/>
                <a:cs typeface="Poppins"/>
                <a:sym typeface="Poppins"/>
              </a:rPr>
              <a:t>Аналоги task-based </a:t>
            </a:r>
            <a:r>
              <a:rPr lang="en-US" sz="2850" b="1" i="0" u="none" strike="noStrike" cap="none" dirty="0" err="1">
                <a:solidFill>
                  <a:schemeClr val="bg1"/>
                </a:solidFill>
                <a:latin typeface="Montserrat" panose="00000500000000000000" pitchFamily="2" charset="-52"/>
                <a:ea typeface="Poppins"/>
                <a:cs typeface="Poppins"/>
                <a:sym typeface="Poppins"/>
              </a:rPr>
              <a:t>систем</a:t>
            </a:r>
            <a:endParaRPr sz="2850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962025" y="1905000"/>
            <a:ext cx="298037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Taskflow</a:t>
            </a:r>
            <a:endParaRPr dirty="0"/>
          </a:p>
        </p:txBody>
      </p:sp>
      <p:sp>
        <p:nvSpPr>
          <p:cNvPr id="180" name="Google Shape;180;p18"/>
          <p:cNvSpPr txBox="1"/>
          <p:nvPr/>
        </p:nvSpPr>
        <p:spPr>
          <a:xfrm>
            <a:off x="962025" y="2381250"/>
            <a:ext cx="283845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C++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библиотека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для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графов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.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Поддерживает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вложенные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подграфы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асинхронные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задачи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 и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профилирование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.</a:t>
            </a:r>
            <a:endParaRPr dirty="0">
              <a:latin typeface="Montserrat" panose="00000500000000000000" pitchFamily="2" charset="-52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4676775" y="1905000"/>
            <a:ext cx="298037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CGraph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4676775" y="2381250"/>
            <a:ext cx="283845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Фреймворк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для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 DAG- и pipeline-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сценариев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.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Особенности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: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условия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циклы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 и Python-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интерфейс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.</a:t>
            </a:r>
            <a:endParaRPr dirty="0">
              <a:latin typeface="Montserrat" panose="00000500000000000000" pitchFamily="2" charset="-52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8391525" y="1905000"/>
            <a:ext cx="298037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TaskTorrent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8391525" y="2381250"/>
            <a:ext cx="2838450" cy="1731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Runtime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для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общей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 и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распределенной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памяти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.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Ориентация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на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 MPI и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снижение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накладных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расходов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ontserrat" panose="00000500000000000000" pitchFamily="2" charset="-52"/>
                <a:ea typeface="Inter"/>
                <a:cs typeface="Inter"/>
                <a:sym typeface="Inter"/>
              </a:rPr>
              <a:t>.</a:t>
            </a:r>
            <a:endParaRPr dirty="0">
              <a:latin typeface="Montserrat" panose="00000500000000000000" pitchFamily="2" charset="-52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23FBBA-ED8D-8F1A-9000-28A834831E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3AE33C9-1016-34F5-D855-117CD19C9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" y="0"/>
            <a:ext cx="12176637" cy="6858000"/>
          </a:xfrm>
          <a:prstGeom prst="rect">
            <a:avLst/>
          </a:prstGeom>
        </p:spPr>
      </p:pic>
      <p:sp>
        <p:nvSpPr>
          <p:cNvPr id="190" name="Google Shape;190;p19"/>
          <p:cNvSpPr txBox="1"/>
          <p:nvPr/>
        </p:nvSpPr>
        <p:spPr>
          <a:xfrm>
            <a:off x="931926" y="498619"/>
            <a:ext cx="1140142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chemeClr val="bg1"/>
                </a:solidFill>
                <a:latin typeface="Montserrat" panose="00000500000000000000" pitchFamily="2" charset="-52"/>
                <a:ea typeface="Poppins"/>
                <a:cs typeface="Poppins"/>
                <a:sym typeface="Poppins"/>
              </a:rPr>
              <a:t>Позиционирование </a:t>
            </a:r>
            <a:r>
              <a:rPr lang="en-US" sz="2850" b="1" i="0" u="none" strike="noStrike" cap="none" dirty="0" err="1">
                <a:solidFill>
                  <a:schemeClr val="bg1"/>
                </a:solidFill>
                <a:latin typeface="Montserrat" panose="00000500000000000000" pitchFamily="2" charset="-52"/>
                <a:ea typeface="Poppins"/>
                <a:cs typeface="Poppins"/>
                <a:sym typeface="Poppins"/>
              </a:rPr>
              <a:t>прототипа</a:t>
            </a:r>
            <a:endParaRPr sz="2850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666750" y="5348287"/>
            <a:ext cx="108585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Inter SemiBold"/>
                <a:cs typeface="Inter SemiBold"/>
                <a:sym typeface="Inter SemiBold"/>
              </a:rPr>
              <a:t>Цель: </a:t>
            </a:r>
            <a:r>
              <a:rPr lang="en-US" sz="1500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Inter SemiBold"/>
                <a:cs typeface="Inter SemiBold"/>
                <a:sym typeface="Inter SemiBold"/>
              </a:rPr>
              <a:t>исследовать</a:t>
            </a:r>
            <a:r>
              <a:rPr lang="en-US" sz="15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500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Inter SemiBold"/>
                <a:cs typeface="Inter SemiBold"/>
                <a:sym typeface="Inter SemiBold"/>
              </a:rPr>
              <a:t>базовые</a:t>
            </a:r>
            <a:r>
              <a:rPr lang="en-US" sz="15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500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Inter SemiBold"/>
                <a:cs typeface="Inter SemiBold"/>
                <a:sym typeface="Inter SemiBold"/>
              </a:rPr>
              <a:t>механизмы</a:t>
            </a:r>
            <a:r>
              <a:rPr lang="en-US" sz="15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500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Inter SemiBold"/>
                <a:cs typeface="Inter SemiBold"/>
                <a:sym typeface="Inter SemiBold"/>
              </a:rPr>
              <a:t>выполнения</a:t>
            </a:r>
            <a:r>
              <a:rPr lang="en-US" sz="15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Inter SemiBold"/>
                <a:cs typeface="Inter SemiBold"/>
                <a:sym typeface="Inter SemiBold"/>
              </a:rPr>
              <a:t> DAG и </a:t>
            </a:r>
            <a:r>
              <a:rPr lang="en-US" sz="1500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Inter SemiBold"/>
                <a:cs typeface="Inter SemiBold"/>
                <a:sym typeface="Inter SemiBold"/>
              </a:rPr>
              <a:t>оценить</a:t>
            </a:r>
            <a:r>
              <a:rPr lang="en-US" sz="15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Inter SemiBold"/>
                <a:cs typeface="Inter SemiBold"/>
                <a:sym typeface="Inter SemiBold"/>
              </a:rPr>
              <a:t> </a:t>
            </a:r>
            <a:r>
              <a:rPr lang="ru-RU" sz="15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Inter SemiBold"/>
                <a:cs typeface="Inter SemiBold"/>
                <a:sym typeface="Inter SemiBold"/>
              </a:rPr>
              <a:t>накладные расходы</a:t>
            </a:r>
            <a:r>
              <a:rPr lang="en-US" sz="15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500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Inter SemiBold"/>
                <a:cs typeface="Inter SemiBold"/>
                <a:sym typeface="Inter SemiBold"/>
              </a:rPr>
              <a:t>собственной</a:t>
            </a:r>
            <a:r>
              <a:rPr lang="en-US" sz="15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500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Inter SemiBold"/>
                <a:cs typeface="Inter SemiBold"/>
                <a:sym typeface="Inter SemiBold"/>
              </a:rPr>
              <a:t>архитектуры</a:t>
            </a:r>
            <a:r>
              <a:rPr lang="en-US" sz="15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Inter SemiBold"/>
                <a:cs typeface="Inter SemiBold"/>
                <a:sym typeface="Inter SemiBold"/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2" charset="-52"/>
            </a:endParaRPr>
          </a:p>
        </p:txBody>
      </p:sp>
      <p:graphicFrame>
        <p:nvGraphicFramePr>
          <p:cNvPr id="193" name="Google Shape;193;p19"/>
          <p:cNvGraphicFramePr/>
          <p:nvPr>
            <p:extLst>
              <p:ext uri="{D42A27DB-BD31-4B8C-83A1-F6EECF244321}">
                <p14:modId xmlns:p14="http://schemas.microsoft.com/office/powerpoint/2010/main" val="3916970464"/>
              </p:ext>
            </p:extLst>
          </p:nvPr>
        </p:nvGraphicFramePr>
        <p:xfrm>
          <a:off x="666750" y="2176462"/>
          <a:ext cx="10848975" cy="28861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3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1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FFFFFF"/>
                          </a:solidFill>
                          <a:latin typeface="Montserrat" panose="00000500000000000000" pitchFamily="2" charset="-52"/>
                          <a:ea typeface="Poppins"/>
                          <a:cs typeface="Poppins"/>
                          <a:sym typeface="Poppins"/>
                        </a:rPr>
                        <a:t>Система</a:t>
                      </a:r>
                      <a:endParaRPr dirty="0">
                        <a:latin typeface="Montserrat" panose="00000500000000000000" pitchFamily="2" charset="-5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 err="1">
                          <a:solidFill>
                            <a:srgbClr val="FFFFFF"/>
                          </a:solidFill>
                          <a:latin typeface="Montserrat" panose="00000500000000000000" pitchFamily="2" charset="-52"/>
                          <a:ea typeface="Poppins"/>
                          <a:cs typeface="Poppins"/>
                          <a:sym typeface="Poppins"/>
                        </a:rPr>
                        <a:t>Основной</a:t>
                      </a:r>
                      <a:r>
                        <a:rPr lang="en-US" sz="1350" b="1" i="0" u="none" strike="noStrike" cap="none" dirty="0">
                          <a:solidFill>
                            <a:srgbClr val="FFFFFF"/>
                          </a:solidFill>
                          <a:latin typeface="Montserrat" panose="00000500000000000000" pitchFamily="2" charset="-52"/>
                          <a:ea typeface="Poppins"/>
                          <a:cs typeface="Poppins"/>
                          <a:sym typeface="Poppins"/>
                        </a:rPr>
                        <a:t> акцент</a:t>
                      </a:r>
                      <a:endParaRPr dirty="0">
                        <a:latin typeface="Montserrat" panose="00000500000000000000" pitchFamily="2" charset="-5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Taskflow</a:t>
                      </a:r>
                      <a:endParaRPr dirty="0">
                        <a:latin typeface="Montserrat" panose="00000500000000000000" pitchFamily="2" charset="-5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Развитый</a:t>
                      </a:r>
                      <a:r>
                        <a:rPr lang="en-US" sz="1500" b="0" i="0" u="none" strike="noStrike" cap="none" dirty="0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 C++ API, </a:t>
                      </a:r>
                      <a:r>
                        <a:rPr lang="en-US" sz="1500" b="0" i="0" u="none" strike="noStrike" cap="none" dirty="0" err="1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графы</a:t>
                      </a:r>
                      <a:r>
                        <a:rPr lang="en-US" sz="1500" b="0" i="0" u="none" strike="noStrike" cap="none" dirty="0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задач</a:t>
                      </a:r>
                      <a:r>
                        <a:rPr lang="en-US" sz="1500" b="0" i="0" u="none" strike="noStrike" cap="none" dirty="0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1500" b="0" i="0" u="none" strike="noStrike" cap="none" dirty="0" err="1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профилирование</a:t>
                      </a:r>
                      <a:endParaRPr dirty="0">
                        <a:latin typeface="Montserrat" panose="00000500000000000000" pitchFamily="2" charset="-5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CGraph</a:t>
                      </a:r>
                      <a:endParaRPr>
                        <a:latin typeface="Montserrat" panose="00000500000000000000" pitchFamily="2" charset="-5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DAG/pipeline-</a:t>
                      </a:r>
                      <a:r>
                        <a:rPr lang="en-US" sz="1500" b="0" i="0" u="none" strike="noStrike" cap="none" dirty="0" err="1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сценарии</a:t>
                      </a:r>
                      <a:r>
                        <a:rPr lang="en-US" sz="1500" b="0" i="0" u="none" strike="noStrike" cap="none" dirty="0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1500" b="0" i="0" u="none" strike="noStrike" cap="none" dirty="0" err="1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условия</a:t>
                      </a:r>
                      <a:r>
                        <a:rPr lang="en-US" sz="1500" b="0" i="0" u="none" strike="noStrike" cap="none" dirty="0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1500" b="0" i="0" u="none" strike="noStrike" cap="none" dirty="0" err="1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события</a:t>
                      </a:r>
                      <a:r>
                        <a:rPr lang="en-US" sz="1500" b="0" i="0" u="none" strike="noStrike" cap="none" dirty="0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, Python</a:t>
                      </a:r>
                      <a:endParaRPr dirty="0">
                        <a:latin typeface="Montserrat" panose="00000500000000000000" pitchFamily="2" charset="-5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TaskTorrent</a:t>
                      </a:r>
                      <a:endParaRPr>
                        <a:latin typeface="Montserrat" panose="00000500000000000000" pitchFamily="2" charset="-5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Распределенный</a:t>
                      </a:r>
                      <a:r>
                        <a:rPr lang="en-US" sz="1500" b="0" i="0" u="none" strike="noStrike" cap="none" dirty="0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 task-based runtime, MPI</a:t>
                      </a:r>
                      <a:endParaRPr dirty="0">
                        <a:latin typeface="Montserrat" panose="00000500000000000000" pitchFamily="2" charset="-5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Наш прототип</a:t>
                      </a:r>
                      <a:endParaRPr>
                        <a:latin typeface="Montserrat" panose="00000500000000000000" pitchFamily="2" charset="-5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Минимальная</a:t>
                      </a:r>
                      <a:r>
                        <a:rPr lang="en-US" sz="1500" b="1" i="0" u="none" strike="noStrike" cap="none" dirty="0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архитектура</a:t>
                      </a:r>
                      <a:r>
                        <a:rPr lang="en-US" sz="1500" b="1" i="0" u="none" strike="noStrike" cap="none" dirty="0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 DAG + Thread backend + </a:t>
                      </a:r>
                      <a:r>
                        <a:rPr lang="en-US" sz="1500" b="1" i="0" u="none" strike="noStrike" cap="none" dirty="0" err="1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задел</a:t>
                      </a:r>
                      <a:r>
                        <a:rPr lang="en-US" sz="1500" b="1" i="0" u="none" strike="noStrike" cap="none" dirty="0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под</a:t>
                      </a:r>
                      <a:r>
                        <a:rPr lang="en-US" sz="1500" b="1" i="0" u="none" strike="noStrike" cap="none" dirty="0">
                          <a:solidFill>
                            <a:srgbClr val="333333"/>
                          </a:solidFill>
                          <a:latin typeface="Montserrat" panose="00000500000000000000" pitchFamily="2" charset="-52"/>
                          <a:ea typeface="Inter"/>
                          <a:cs typeface="Inter"/>
                          <a:sym typeface="Inter"/>
                        </a:rPr>
                        <a:t> MPI</a:t>
                      </a:r>
                      <a:endParaRPr dirty="0">
                        <a:latin typeface="Montserrat" panose="00000500000000000000" pitchFamily="2" charset="-5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04F349B-AC5A-A619-B851-73D5B5795E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0D0C0A0-6594-23CF-8636-7A5AEC361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" y="0"/>
            <a:ext cx="12176637" cy="6858000"/>
          </a:xfrm>
          <a:prstGeom prst="rect">
            <a:avLst/>
          </a:prstGeom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62150"/>
            <a:ext cx="3492549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962150"/>
            <a:ext cx="3492549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962150"/>
            <a:ext cx="3492549" cy="37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894129" y="5334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Архитектура </a:t>
            </a:r>
            <a:r>
              <a:rPr lang="en-US" sz="2850" b="1" i="0" u="none" strike="noStrike" cap="none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системы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866775" y="296227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TaskGraph</a:t>
            </a:r>
            <a:endParaRPr dirty="0"/>
          </a:p>
        </p:txBody>
      </p:sp>
      <p:sp>
        <p:nvSpPr>
          <p:cNvPr id="141" name="Google Shape;141;p16"/>
          <p:cNvSpPr txBox="1"/>
          <p:nvPr/>
        </p:nvSpPr>
        <p:spPr>
          <a:xfrm>
            <a:off x="866775" y="3714750"/>
            <a:ext cx="2901999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Описание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структуры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: регистрация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задач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определение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входных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выходных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ключей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данных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связей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между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ними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4645074" y="296227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Executor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645074" y="3714750"/>
            <a:ext cx="290199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Диспетчеризация: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обход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графа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мониторинг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готовности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задач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счётчик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зависимостей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) и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запуск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через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драйвер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8423374" y="296227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Drivers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423374" y="3714750"/>
            <a:ext cx="290199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Абстракция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исполнения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500" b="1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ThreadsDriver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пул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потоков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локально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или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MpiDriver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распределенно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46" name="Google Shape;14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29552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29552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295525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54A4C42-B216-7B5E-F9D8-92E2C95253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414160-DEC8-43CA-4DFE-083FE6100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1" y="0"/>
            <a:ext cx="12176637" cy="6858000"/>
          </a:xfrm>
          <a:prstGeom prst="rect">
            <a:avLst/>
          </a:prstGeom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4059435"/>
            <a:ext cx="5334000" cy="1557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4059435"/>
            <a:ext cx="5334000" cy="1557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23987" y="2778323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666750" y="3083123"/>
            <a:ext cx="1714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Пользователь</a:t>
            </a:r>
            <a:endParaRPr/>
          </a:p>
        </p:txBody>
      </p:sp>
      <p:pic>
        <p:nvPicPr>
          <p:cNvPr id="141" name="Google Shape;14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52700" y="289262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24275" y="269736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2952750" y="3002160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Задачи + зависимости</a:t>
            </a:r>
            <a:endParaRPr/>
          </a:p>
        </p:txBody>
      </p:sp>
      <p:pic>
        <p:nvPicPr>
          <p:cNvPr id="144" name="Google Shape;14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38700" y="289262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67412" y="2778323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5238750" y="3083123"/>
            <a:ext cx="1714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TaskGraph</a:t>
            </a:r>
            <a:endParaRPr/>
          </a:p>
        </p:txBody>
      </p:sp>
      <p:pic>
        <p:nvPicPr>
          <p:cNvPr id="147" name="Google Shape;14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24700" y="289262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67700" y="2778323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7524750" y="3083123"/>
            <a:ext cx="1714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Executor</a:t>
            </a:r>
            <a:endParaRPr/>
          </a:p>
        </p:txBody>
      </p:sp>
      <p:pic>
        <p:nvPicPr>
          <p:cNvPr id="150" name="Google Shape;15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10700" y="289262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539412" y="2778323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9810750" y="3083123"/>
            <a:ext cx="1714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Driver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904875" y="4430910"/>
            <a:ext cx="4905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Thread Driver: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Пул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потоков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ThreadPool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для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локальных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многоядерных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систем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425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Статус</a:t>
            </a:r>
            <a:r>
              <a:rPr lang="en-US" sz="1425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425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Готов</a:t>
            </a:r>
            <a:r>
              <a:rPr lang="en-US" sz="1425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54" name="Google Shape;154;p16"/>
          <p:cNvSpPr txBox="1"/>
          <p:nvPr/>
        </p:nvSpPr>
        <p:spPr>
          <a:xfrm>
            <a:off x="6429375" y="4430910"/>
            <a:ext cx="49053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MPI Driver:</a:t>
            </a: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Реализована сериализация TaskContext для распределенных вычислений. </a:t>
            </a:r>
            <a:r>
              <a:rPr lang="en-US" sz="14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Статус: В разработке.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04875" y="537734"/>
            <a:ext cx="114014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Схема </a:t>
            </a:r>
            <a:r>
              <a:rPr lang="en-US" sz="2700" b="1" i="0" u="none" strike="noStrike" cap="none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выполнения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00" b="1" i="0" u="none" strike="noStrike" cap="none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графа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E2598E-9246-E5A9-418E-91E5A7A722C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447" y="2321027"/>
            <a:ext cx="11498280" cy="136226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9B6613D-7F67-0EC3-FF74-65132E23CE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24BB7A-938E-57B0-9194-2539FF34E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" y="0"/>
            <a:ext cx="12176637" cy="6858000"/>
          </a:xfrm>
          <a:prstGeom prst="rect">
            <a:avLst/>
          </a:prstGeom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57612"/>
            <a:ext cx="1104900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9975" y="2431256"/>
            <a:ext cx="1143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9525" y="2424112"/>
            <a:ext cx="1143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24500" y="2043112"/>
            <a:ext cx="1143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24500" y="2805112"/>
            <a:ext cx="11430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866775" y="544116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Пример </a:t>
            </a:r>
            <a:r>
              <a:rPr lang="en-US" sz="2850" b="1" i="0" u="none" strike="noStrike" cap="none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выполнения</a:t>
            </a:r>
            <a:r>
              <a:rPr lang="en-US" sz="285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850" b="1" i="0" u="none" strike="noStrike" cap="none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графа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866775" y="4243387"/>
            <a:ext cx="104584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Механизм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управления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Система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автоматически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определяет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что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задачи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1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Sum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1500" b="0" i="1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Max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независимы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могут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выполняться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параллельно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в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разных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потоках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Задача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1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Print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будет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заблокирована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до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завершения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обоих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предшественников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62" name="Google Shape;162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20842928">
            <a:off x="4943475" y="228266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1160147">
            <a:off x="6948487" y="228647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62;p17" descr="image.png">
            <a:extLst>
              <a:ext uri="{FF2B5EF4-FFF2-40B4-BE49-F238E27FC236}">
                <a16:creationId xmlns:a16="http://schemas.microsoft.com/office/drawing/2014/main" id="{92EC2ECB-21DB-DEA1-8968-BDD8CA12869B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716635">
            <a:off x="5001959" y="297656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63;p17" descr="image.png">
            <a:extLst>
              <a:ext uri="{FF2B5EF4-FFF2-40B4-BE49-F238E27FC236}">
                <a16:creationId xmlns:a16="http://schemas.microsoft.com/office/drawing/2014/main" id="{AD6DC2B4-A636-DC4B-3797-3535AD1629B5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19821078">
            <a:off x="6948487" y="294941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ECF741-ED1C-4674-99F1-5C5E9293EF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028F80-6459-1D9B-FA8E-EA7342F19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" y="0"/>
            <a:ext cx="12176637" cy="6858000"/>
          </a:xfrm>
          <a:prstGeom prst="rect">
            <a:avLst/>
          </a:prstGeom>
        </p:spPr>
      </p:pic>
      <p:pic>
        <p:nvPicPr>
          <p:cNvPr id="181" name="Google Shape;18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359223"/>
            <a:ext cx="5191125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59223"/>
            <a:ext cx="5191125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666750" y="5340548"/>
            <a:ext cx="108585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Параметры тестов: 6 ядер CPU, 5 повторов для усреднения. Проверка корректности: </a:t>
            </a:r>
            <a:r>
              <a:rPr lang="en-US" sz="14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Diff = 0</a:t>
            </a: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914400" y="2883098"/>
            <a:ext cx="493061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Low Exchange Workload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914400" y="3359348"/>
            <a:ext cx="4695825" cy="1315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Тестирование </a:t>
            </a:r>
            <a:r>
              <a:rPr lang="en-US" sz="1425" b="1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параллельной</a:t>
            </a:r>
            <a:r>
              <a:rPr lang="en-US" sz="1425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1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суммы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массива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Множество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мелких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независимых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задач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. Основная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цель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оценка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накладных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расходов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планировщика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при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высокой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частоте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запусков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6581775" y="2883098"/>
            <a:ext cx="493061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High Exchange Workload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6581775" y="3359348"/>
            <a:ext cx="4695825" cy="1315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Тестирование </a:t>
            </a:r>
            <a:r>
              <a:rPr lang="en-US" sz="1425" b="1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конвейерной</a:t>
            </a:r>
            <a:r>
              <a:rPr lang="en-US" sz="1425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1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обработки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(8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стадий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).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Передача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тяжелых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векторов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данных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между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узлами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. Основная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цель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оценка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эффективности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механизмов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копирования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передачи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данных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89" name="Google Shape;18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81175" y="5378648"/>
            <a:ext cx="1809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914400" y="561425"/>
            <a:ext cx="114014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7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Э</a:t>
            </a:r>
            <a:r>
              <a:rPr lang="en-US" sz="2700" b="1" i="0" u="none" strike="noStrike" cap="none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ксперимент</a:t>
            </a:r>
            <a:r>
              <a:rPr lang="ru-RU" sz="27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ы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E530645-9C49-69F7-B696-71C429313F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AB9D8B9-B6E6-6675-84BA-3C4B3EB7A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" y="0"/>
            <a:ext cx="12176637" cy="6858000"/>
          </a:xfrm>
          <a:prstGeom prst="rect">
            <a:avLst/>
          </a:prstGeom>
        </p:spPr>
      </p:pic>
      <p:sp>
        <p:nvSpPr>
          <p:cNvPr id="116" name="Google Shape;116;p15"/>
          <p:cNvSpPr txBox="1"/>
          <p:nvPr/>
        </p:nvSpPr>
        <p:spPr>
          <a:xfrm>
            <a:off x="840582" y="557212"/>
            <a:ext cx="1135141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5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Результаты: </a:t>
            </a:r>
            <a:r>
              <a:rPr lang="en-US" sz="285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Low Exchange Workload</a:t>
            </a:r>
            <a:endParaRPr lang="en-US" sz="2850" dirty="0">
              <a:solidFill>
                <a:schemeClr val="bg1"/>
              </a:solidFill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1714500"/>
            <a:ext cx="11049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Сценарий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Параллельное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суммирование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массива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чанками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минимальный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обмен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данными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  <p:graphicFrame>
        <p:nvGraphicFramePr>
          <p:cNvPr id="119" name="Google Shape;119;p15"/>
          <p:cNvGraphicFramePr/>
          <p:nvPr/>
        </p:nvGraphicFramePr>
        <p:xfrm>
          <a:off x="571500" y="2190750"/>
          <a:ext cx="11049000" cy="33147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4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Размерность (N)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Manual Implementation (ms)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Framework Prototype (ms)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Slowdown (Factor)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100 000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0.355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2.250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6.344x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500 000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0.502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8.600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17.125x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1 000 000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0.864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13.674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15.836x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2 000 000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1.191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20.662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17.353x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508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5 000 000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508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2.009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508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61.678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508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30.705x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1" name="Google Shape;121;p15"/>
          <p:cNvSpPr/>
          <p:nvPr/>
        </p:nvSpPr>
        <p:spPr>
          <a:xfrm>
            <a:off x="571500" y="2762250"/>
            <a:ext cx="2248941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2820441" y="2762250"/>
            <a:ext cx="3322885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6143327" y="2762250"/>
            <a:ext cx="3162448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9305776" y="2762250"/>
            <a:ext cx="2314723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571500" y="3319462"/>
            <a:ext cx="22489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2820441" y="3319462"/>
            <a:ext cx="33228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6143327" y="3319462"/>
            <a:ext cx="3162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9305776" y="3319462"/>
            <a:ext cx="2314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571500" y="3862387"/>
            <a:ext cx="22489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2820441" y="3862387"/>
            <a:ext cx="33228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6143327" y="3862387"/>
            <a:ext cx="3162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9305776" y="3862387"/>
            <a:ext cx="2314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571500" y="4405312"/>
            <a:ext cx="22489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2820441" y="4405312"/>
            <a:ext cx="33228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6143327" y="4405312"/>
            <a:ext cx="3162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9305776" y="4405312"/>
            <a:ext cx="2314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571500" y="4948237"/>
            <a:ext cx="22489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2820441" y="4948237"/>
            <a:ext cx="33228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6143327" y="4948237"/>
            <a:ext cx="3162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9305776" y="4948237"/>
            <a:ext cx="2314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571500" y="5491162"/>
            <a:ext cx="22489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2820441" y="5491162"/>
            <a:ext cx="33228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6143327" y="5491162"/>
            <a:ext cx="3162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9305776" y="5491162"/>
            <a:ext cx="2314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187;p19" descr="image.png">
            <a:extLst>
              <a:ext uri="{FF2B5EF4-FFF2-40B4-BE49-F238E27FC236}">
                <a16:creationId xmlns:a16="http://schemas.microsoft.com/office/drawing/2014/main" id="{87A29D0C-2676-A249-1E85-ED6A9E7126D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499" y="5538787"/>
            <a:ext cx="11049000" cy="83433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0553C5-E457-148A-0C8F-4764071DA4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53F0865-0DD0-B4E5-29EF-436DB1A57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3" y="-47625"/>
            <a:ext cx="12176637" cy="6858000"/>
          </a:xfrm>
          <a:prstGeom prst="rect">
            <a:avLst/>
          </a:prstGeom>
        </p:spPr>
      </p:pic>
      <p:sp>
        <p:nvSpPr>
          <p:cNvPr id="151" name="Google Shape;151;p16"/>
          <p:cNvSpPr txBox="1"/>
          <p:nvPr/>
        </p:nvSpPr>
        <p:spPr>
          <a:xfrm>
            <a:off x="840582" y="496151"/>
            <a:ext cx="1135141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5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Результаты: </a:t>
            </a:r>
            <a:r>
              <a:rPr lang="en-US" sz="285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High Exchange Workload</a:t>
            </a:r>
            <a:endParaRPr lang="en-US" sz="2850" dirty="0">
              <a:solidFill>
                <a:schemeClr val="bg1"/>
              </a:solidFill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571500" y="1714500"/>
            <a:ext cx="11049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Сценарий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Конвейер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обработки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(8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стадий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) с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интенсивной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передачей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векторов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graphicFrame>
        <p:nvGraphicFramePr>
          <p:cNvPr id="154" name="Google Shape;154;p16"/>
          <p:cNvGraphicFramePr/>
          <p:nvPr/>
        </p:nvGraphicFramePr>
        <p:xfrm>
          <a:off x="571500" y="2190750"/>
          <a:ext cx="11049000" cy="33147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4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Размерность (N)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Manual Implementation (ms)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Framework Prototype (ms)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Slowdown (Factor)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50 000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0.122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1.162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9.524x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100 000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0.253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2.174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8.603x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200 000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0.504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3.414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6.770x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500 000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1.953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7.934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4.063x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508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1 000 000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508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4.284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508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18.981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508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4.431x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6" name="Google Shape;156;p16"/>
          <p:cNvSpPr/>
          <p:nvPr/>
        </p:nvSpPr>
        <p:spPr>
          <a:xfrm>
            <a:off x="571500" y="2762250"/>
            <a:ext cx="2248941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2820441" y="2762250"/>
            <a:ext cx="3322885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143327" y="2762250"/>
            <a:ext cx="3162448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9305776" y="2762250"/>
            <a:ext cx="2314723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571500" y="3319462"/>
            <a:ext cx="22489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2820441" y="3319462"/>
            <a:ext cx="33228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6143327" y="3319462"/>
            <a:ext cx="3162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9305776" y="3319462"/>
            <a:ext cx="2314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571500" y="3862387"/>
            <a:ext cx="22489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2820441" y="3862387"/>
            <a:ext cx="33228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6143327" y="3862387"/>
            <a:ext cx="3162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9305776" y="3862387"/>
            <a:ext cx="2314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571500" y="4405312"/>
            <a:ext cx="22489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2820441" y="4405312"/>
            <a:ext cx="33228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6143327" y="4405312"/>
            <a:ext cx="3162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9305776" y="4405312"/>
            <a:ext cx="2314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571500" y="4948237"/>
            <a:ext cx="22489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2820441" y="4948237"/>
            <a:ext cx="33228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6143327" y="4948237"/>
            <a:ext cx="3162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9305776" y="4948237"/>
            <a:ext cx="2314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571500" y="5491162"/>
            <a:ext cx="22489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2820441" y="5491162"/>
            <a:ext cx="33228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6143327" y="5491162"/>
            <a:ext cx="3162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9305776" y="5491162"/>
            <a:ext cx="2314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171;p20" descr="image.png">
            <a:extLst>
              <a:ext uri="{FF2B5EF4-FFF2-40B4-BE49-F238E27FC236}">
                <a16:creationId xmlns:a16="http://schemas.microsoft.com/office/drawing/2014/main" id="{9940560A-8564-A9DB-C447-3B8F221A28E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499" y="5660231"/>
            <a:ext cx="1104900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14B9763-D5B4-9965-85C8-E45471BDE5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06D0241-D09B-6DBF-442B-97CBAEB9F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" y="0"/>
            <a:ext cx="12176637" cy="6858000"/>
          </a:xfrm>
          <a:prstGeom prst="rect">
            <a:avLst/>
          </a:prstGeom>
        </p:spPr>
      </p:pic>
      <p:pic>
        <p:nvPicPr>
          <p:cNvPr id="163" name="Google Shape;16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419225"/>
            <a:ext cx="11049000" cy="486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851916" y="502920"/>
            <a:ext cx="1144143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50" b="1" i="0" u="none" strike="noStrike" cap="none" dirty="0">
                <a:solidFill>
                  <a:schemeClr val="bg1"/>
                </a:solidFill>
                <a:latin typeface="Montserrat" panose="00000500000000000000" pitchFamily="2" charset="-52"/>
                <a:ea typeface="Montserrat SemiBold"/>
                <a:cs typeface="Montserrat SemiBold"/>
                <a:sym typeface="Montserrat SemiBold"/>
              </a:rPr>
              <a:t>Сравнение</a:t>
            </a:r>
            <a:r>
              <a:rPr lang="ru-RU" sz="2850" b="1" dirty="0">
                <a:solidFill>
                  <a:schemeClr val="bg1"/>
                </a:solidFill>
                <a:latin typeface="Montserrat" panose="00000500000000000000" pitchFamily="2" charset="-52"/>
                <a:ea typeface="Montserrat SemiBold"/>
                <a:cs typeface="Montserrat SemiBold"/>
                <a:sym typeface="Montserrat SemiBold"/>
              </a:rPr>
              <a:t> с аналогами</a:t>
            </a:r>
            <a:r>
              <a:rPr lang="ru-RU" sz="2850" b="1" i="0" u="none" strike="noStrike" cap="none" dirty="0">
                <a:solidFill>
                  <a:schemeClr val="bg1"/>
                </a:solidFill>
                <a:latin typeface="Montserrat" panose="00000500000000000000" pitchFamily="2" charset="-52"/>
                <a:ea typeface="Montserrat SemiBold"/>
                <a:cs typeface="Montserrat SemiBold"/>
                <a:sym typeface="Montserrat SemiBold"/>
              </a:rPr>
              <a:t>: </a:t>
            </a:r>
            <a:r>
              <a:rPr lang="ru-RU" sz="2850" b="1" i="0" u="none" strike="noStrike" cap="none" dirty="0" err="1">
                <a:solidFill>
                  <a:schemeClr val="bg1"/>
                </a:solidFill>
                <a:latin typeface="Montserrat" panose="00000500000000000000" pitchFamily="2" charset="-52"/>
                <a:ea typeface="Montserrat SemiBold"/>
                <a:cs typeface="Montserrat SemiBold"/>
                <a:sym typeface="Montserrat SemiBold"/>
              </a:rPr>
              <a:t>Low</a:t>
            </a:r>
            <a:r>
              <a:rPr lang="ru-RU" sz="2850" b="1" i="0" u="none" strike="noStrike" cap="none" dirty="0">
                <a:solidFill>
                  <a:schemeClr val="bg1"/>
                </a:solidFill>
                <a:latin typeface="Montserrat" panose="00000500000000000000" pitchFamily="2" charset="-52"/>
                <a:ea typeface="Montserrat SemiBold"/>
                <a:cs typeface="Montserrat SemiBold"/>
                <a:sym typeface="Montserrat SemiBold"/>
              </a:rPr>
              <a:t> Exchange</a:t>
            </a:r>
            <a:endParaRPr lang="ru-RU" sz="285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C0E5AEE-193E-E535-2462-06C45BFD1E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953233C-112A-4F39-5EFB-4BC2BED54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" y="0"/>
            <a:ext cx="12176637" cy="6858000"/>
          </a:xfrm>
          <a:prstGeom prst="rect">
            <a:avLst/>
          </a:prstGeom>
        </p:spPr>
      </p:pic>
      <p:pic>
        <p:nvPicPr>
          <p:cNvPr id="182" name="Google Shape;18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419225"/>
            <a:ext cx="11049000" cy="486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2"/>
          <p:cNvSpPr txBox="1"/>
          <p:nvPr/>
        </p:nvSpPr>
        <p:spPr>
          <a:xfrm>
            <a:off x="861060" y="504539"/>
            <a:ext cx="1144143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50" b="1" i="0" u="none" strike="noStrike" cap="none" dirty="0">
                <a:solidFill>
                  <a:schemeClr val="bg1"/>
                </a:solidFill>
                <a:latin typeface="Montserrat" panose="00000500000000000000" pitchFamily="2" charset="-52"/>
                <a:ea typeface="Montserrat SemiBold"/>
                <a:cs typeface="Montserrat SemiBold"/>
                <a:sym typeface="Montserrat SemiBold"/>
              </a:rPr>
              <a:t>Сравнение </a:t>
            </a:r>
            <a:r>
              <a:rPr lang="ru-RU" sz="2850" b="1" dirty="0">
                <a:solidFill>
                  <a:schemeClr val="bg1"/>
                </a:solidFill>
                <a:latin typeface="Montserrat" panose="00000500000000000000" pitchFamily="2" charset="-52"/>
                <a:ea typeface="Montserrat SemiBold"/>
                <a:cs typeface="Montserrat SemiBold"/>
                <a:sym typeface="Montserrat SemiBold"/>
              </a:rPr>
              <a:t>с аналогами</a:t>
            </a:r>
            <a:r>
              <a:rPr lang="ru-RU" sz="2850" b="1" i="0" u="none" strike="noStrike" cap="none" dirty="0">
                <a:solidFill>
                  <a:schemeClr val="bg1"/>
                </a:solidFill>
                <a:latin typeface="Montserrat" panose="00000500000000000000" pitchFamily="2" charset="-52"/>
                <a:ea typeface="Montserrat SemiBold"/>
                <a:cs typeface="Montserrat SemiBold"/>
                <a:sym typeface="Montserrat SemiBold"/>
              </a:rPr>
              <a:t>: High Exchange</a:t>
            </a:r>
            <a:endParaRPr lang="ru-RU" sz="285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D37EB21-1653-6803-BF86-9825A03163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085" y="5000406"/>
            <a:ext cx="10783805" cy="1047896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1F53C9B-E22E-C073-96AF-B205CF120C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78E4DD-64E7-03FE-7829-21D448020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" y="0"/>
            <a:ext cx="12176637" cy="6858000"/>
          </a:xfrm>
          <a:prstGeom prst="rect">
            <a:avLst/>
          </a:prstGeom>
        </p:spPr>
      </p:pic>
      <p:pic>
        <p:nvPicPr>
          <p:cNvPr id="264" name="Google Shape;26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29125"/>
            <a:ext cx="110490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/>
          <p:cNvSpPr txBox="1"/>
          <p:nvPr/>
        </p:nvSpPr>
        <p:spPr>
          <a:xfrm>
            <a:off x="860014" y="564451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Заключение и </a:t>
            </a:r>
            <a:r>
              <a:rPr lang="en-US" sz="2850" b="1" i="0" u="none" strike="noStrike" cap="none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планы</a:t>
            </a:r>
            <a:r>
              <a:rPr lang="en-US" sz="285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850" b="1" i="0" u="none" strike="noStrike" cap="none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развития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267" name="Google Shape;26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438650"/>
            <a:ext cx="1102995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2"/>
          <p:cNvSpPr txBox="1"/>
          <p:nvPr/>
        </p:nvSpPr>
        <p:spPr>
          <a:xfrm>
            <a:off x="628650" y="140017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Итоги</a:t>
            </a:r>
            <a:r>
              <a:rPr lang="en-US" sz="2100" b="1" i="0" u="none" strike="noStrike" cap="none" dirty="0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 работы</a:t>
            </a:r>
            <a:endParaRPr dirty="0"/>
          </a:p>
        </p:txBody>
      </p:sp>
      <p:sp>
        <p:nvSpPr>
          <p:cNvPr id="269" name="Google Shape;269;p22"/>
          <p:cNvSpPr txBox="1"/>
          <p:nvPr/>
        </p:nvSpPr>
        <p:spPr>
          <a:xfrm>
            <a:off x="6334125" y="140017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Дальнейшие шаги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657225" y="194957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271" name="Google Shape;271;p22"/>
          <p:cNvSpPr txBox="1"/>
          <p:nvPr/>
        </p:nvSpPr>
        <p:spPr>
          <a:xfrm>
            <a:off x="762000" y="1876425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Разработан прототип Task-based фреймворка на C++.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657225" y="256832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273" name="Google Shape;273;p22"/>
          <p:cNvSpPr txBox="1"/>
          <p:nvPr/>
        </p:nvSpPr>
        <p:spPr>
          <a:xfrm>
            <a:off x="762000" y="2486025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Обеспечена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абстракция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от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физического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уровня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исполнения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74" name="Google Shape;274;p22"/>
          <p:cNvSpPr txBox="1"/>
          <p:nvPr/>
        </p:nvSpPr>
        <p:spPr>
          <a:xfrm>
            <a:off x="657225" y="3251073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275" name="Google Shape;275;p22"/>
          <p:cNvSpPr txBox="1"/>
          <p:nvPr/>
        </p:nvSpPr>
        <p:spPr>
          <a:xfrm>
            <a:off x="762000" y="3177921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Корректность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подтверждена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во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всех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тестах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Diff = 0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76" name="Google Shape;276;p22"/>
          <p:cNvSpPr txBox="1"/>
          <p:nvPr/>
        </p:nvSpPr>
        <p:spPr>
          <a:xfrm>
            <a:off x="6524625" y="1876425"/>
            <a:ext cx="50958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Zero-copy: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Переход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передачу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ссылок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для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исключения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копирования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77" name="Google Shape;277;p22"/>
          <p:cNvSpPr txBox="1"/>
          <p:nvPr/>
        </p:nvSpPr>
        <p:spPr>
          <a:xfrm>
            <a:off x="6524625" y="2628900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MPI Driver: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Полноценная реализация распределенного режима.</a:t>
            </a:r>
            <a:endParaRPr/>
          </a:p>
        </p:txBody>
      </p:sp>
      <p:pic>
        <p:nvPicPr>
          <p:cNvPr id="279" name="Google Shape;27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24625" y="198367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24625" y="2745295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7166B82-52FD-9F7B-69A8-939226F305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C6B54D-BE8B-67B6-CF55-55839E625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" y="0"/>
            <a:ext cx="12176637" cy="6858000"/>
          </a:xfrm>
          <a:prstGeom prst="rect">
            <a:avLst/>
          </a:prstGeom>
        </p:spPr>
      </p:pic>
      <p:sp>
        <p:nvSpPr>
          <p:cNvPr id="290" name="Google Shape;290;p23"/>
          <p:cNvSpPr txBox="1"/>
          <p:nvPr/>
        </p:nvSpPr>
        <p:spPr>
          <a:xfrm>
            <a:off x="943737" y="545621"/>
            <a:ext cx="1078134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Л</a:t>
            </a:r>
            <a:r>
              <a:rPr lang="ru-RU" sz="2850" b="1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итература</a:t>
            </a:r>
            <a:endParaRPr sz="285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3FB6C1-DD7F-9DB4-DF80-16F5CA379C50}"/>
              </a:ext>
            </a:extLst>
          </p:cNvPr>
          <p:cNvSpPr txBox="1"/>
          <p:nvPr/>
        </p:nvSpPr>
        <p:spPr>
          <a:xfrm>
            <a:off x="0" y="1408270"/>
            <a:ext cx="12412372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/>
              <a:t>Воеводин, В. В. Математические основы параллельных вычислений / В. В. Воеводин.— М. : Изд-во МГУ, 1991. — 304 с.</a:t>
            </a:r>
          </a:p>
          <a:p>
            <a:pPr marL="342900" indent="-342900">
              <a:buAutoNum type="arabicPeriod"/>
            </a:pPr>
            <a:r>
              <a:rPr lang="ru-RU" dirty="0"/>
              <a:t>Воеводин, В. В. Параллельные вычисления / В. В. Воеводин, Вл. В. Воеводин. — СПб.: БХВ-Петербург, 2002. — 608 с.</a:t>
            </a:r>
          </a:p>
          <a:p>
            <a:pPr marL="342900" indent="-342900">
              <a:buAutoNum type="arabicPeriod"/>
            </a:pPr>
            <a:r>
              <a:rPr lang="ru-RU" dirty="0" err="1"/>
              <a:t>Гергель</a:t>
            </a:r>
            <a:r>
              <a:rPr lang="ru-RU" dirty="0"/>
              <a:t>, В. П. Теория и практика параллельных вычислений / В. П. </a:t>
            </a:r>
            <a:r>
              <a:rPr lang="ru-RU" dirty="0" err="1"/>
              <a:t>Гергель</a:t>
            </a:r>
            <a:r>
              <a:rPr lang="ru-RU" dirty="0"/>
              <a:t>. — М. :Интернет-Университет Информационных Технологий </a:t>
            </a:r>
          </a:p>
          <a:p>
            <a:pPr marL="342900" indent="-342900">
              <a:buAutoNum type="arabicPeriod"/>
            </a:pPr>
            <a:r>
              <a:rPr lang="ru-RU" dirty="0"/>
              <a:t>Зыков, А. А. Введение в теорию графов / А. А. Зыков. — М. : Наука, 1987. — 384 с.</a:t>
            </a:r>
          </a:p>
          <a:p>
            <a:pPr marL="342900" indent="-342900">
              <a:buAutoNum type="arabicPeriod"/>
            </a:pPr>
            <a:r>
              <a:rPr lang="en-GB" dirty="0"/>
              <a:t>Foster, I. Designing and Building Parallel Programs: Concepts and Tools for </a:t>
            </a:r>
            <a:r>
              <a:rPr lang="en-GB" dirty="0" err="1"/>
              <a:t>SoftwareEngineering</a:t>
            </a:r>
            <a:r>
              <a:rPr lang="en-GB" dirty="0"/>
              <a:t> / I. Foster. — Reading, MA : Addison-Wesley, 1995.</a:t>
            </a:r>
            <a:endParaRPr lang="ru-RU" dirty="0"/>
          </a:p>
          <a:p>
            <a:pPr marL="342900" indent="-342900">
              <a:buAutoNum type="arabicPeriod"/>
            </a:pPr>
            <a:r>
              <a:rPr lang="en-GB" dirty="0"/>
              <a:t>Grama, A. Introduction to Parallel Computing / A. Grama, A. Gupta, G. </a:t>
            </a:r>
            <a:r>
              <a:rPr lang="en-GB" dirty="0" err="1"/>
              <a:t>Karypis</a:t>
            </a:r>
            <a:r>
              <a:rPr lang="en-GB" dirty="0"/>
              <a:t>, V. Kumar.— 2nd ed. — Harlow : Pearson, 2003.</a:t>
            </a:r>
            <a:endParaRPr lang="ru-RU" dirty="0"/>
          </a:p>
          <a:p>
            <a:pPr marL="342900" indent="-342900">
              <a:buAutoNum type="arabicPeriod"/>
            </a:pPr>
            <a:r>
              <a:rPr lang="en-GB" dirty="0" err="1"/>
              <a:t>Rauber</a:t>
            </a:r>
            <a:r>
              <a:rPr lang="en-GB" dirty="0"/>
              <a:t>, T. Parallel Programming: for Multicore and Cluster Systems / T. </a:t>
            </a:r>
            <a:r>
              <a:rPr lang="en-GB" dirty="0" err="1"/>
              <a:t>Rauber</a:t>
            </a:r>
            <a:r>
              <a:rPr lang="en-GB" dirty="0"/>
              <a:t>, G. </a:t>
            </a:r>
            <a:r>
              <a:rPr lang="en-GB" dirty="0" err="1"/>
              <a:t>Runger</a:t>
            </a:r>
            <a:r>
              <a:rPr lang="en-GB" dirty="0"/>
              <a:t>.— Berlin : Springer, 2013.</a:t>
            </a:r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9E15D01-BD2A-A33D-69C9-DA3646CA20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1091</Words>
  <Application>Microsoft Office PowerPoint</Application>
  <PresentationFormat>Широкоэкранный</PresentationFormat>
  <Paragraphs>187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5" baseType="lpstr">
      <vt:lpstr>Calibri</vt:lpstr>
      <vt:lpstr>Inter</vt:lpstr>
      <vt:lpstr>Poppins</vt:lpstr>
      <vt:lpstr>Montserrat</vt:lpstr>
      <vt:lpstr>Arial</vt:lpstr>
      <vt:lpstr>Lato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Сергей Боровков 3821Б1ФИ1</cp:lastModifiedBy>
  <cp:revision>25</cp:revision>
  <dcterms:modified xsi:type="dcterms:W3CDTF">2026-06-16T12:27:59Z</dcterms:modified>
</cp:coreProperties>
</file>